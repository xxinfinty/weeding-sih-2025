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7" r:id="rId7"/>
    <p:sldId id="293" r:id="rId8"/>
    <p:sldId id="294" r:id="rId9"/>
    <p:sldId id="296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15411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343966" y="192797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450850"/>
            <a:ext cx="7964170" cy="5355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SIH25097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 an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autonomous small precision focused machine for planting crops or weeding  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 &lt;Neiaoo&gt;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 N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eiaoo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22680" y="-62230"/>
            <a:ext cx="8914765" cy="124206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utonomous small precision focused machine for planting crops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 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or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 </a:t>
            </a:r>
            <a:r>
              <a:rPr lang="en-US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weeding</a:t>
            </a:r>
            <a:endParaRPr lang="en-US" alt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460500"/>
            <a:ext cx="12192000" cy="50044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:-</a:t>
            </a:r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propose developing a compact, autonomous robot designed for precision planting and targeted weeding in small to medium-sized farms. The robot uses trained ML model to identify between crops and weeds. It will be equipped with interchangeable moduler attachments for seed planting, micro-irrigation based weeding.</a:t>
            </a:r>
            <a:endParaRPr lang="en-US" altLang="en-US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It addresses :- </a:t>
            </a:r>
            <a:endParaRPr lang="en-US" alt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93980" y="252095"/>
            <a:ext cx="18262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Neiaoo</a:t>
            </a:r>
            <a:endParaRPr lang="en-US" alt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93980" y="3009900"/>
            <a:ext cx="8741410" cy="21031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40970" y="3009900"/>
            <a:ext cx="869442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It addresses :- </a:t>
            </a:r>
            <a:endParaRPr lang="en-US" alt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Reduces farmers’ dependency on manual labor, which is often expensive and scarce.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Increases accuracy in planting.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Eliminates weeds without harmful chemicals, reducing environmental impact.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Provides an affordable, scalable solution for small farmers compared to heavy agricultural machinery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93980" y="5351780"/>
            <a:ext cx="8714105" cy="13696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40970" y="5351780"/>
            <a:ext cx="859663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algn="just">
              <a:buFont typeface="Wingdings" panose="05000000000000000000" charset="0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Innovation and uniqueness :-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Modular Design – The same robot can switch between planting,   weeding, and irrigation tasks.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Eco-friendly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/>
          </a:p>
        </p:txBody>
      </p:sp>
      <p:pic>
        <p:nvPicPr>
          <p:cNvPr id="14" name="Picture 13" descr="SI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970" y="3009265"/>
            <a:ext cx="2892425" cy="3559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241300"/>
            <a:ext cx="192278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Neiaoo</a:t>
            </a:r>
            <a:endParaRPr lang="en-US" alt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atsApp Image 2025-09-19 at 22.54.54_17654e29"/>
          <p:cNvPicPr>
            <a:picLocks noChangeAspect="1"/>
          </p:cNvPicPr>
          <p:nvPr/>
        </p:nvPicPr>
        <p:blipFill>
          <a:blip r:embed="rId2">
            <a:clrChange>
              <a:clrFrom>
                <a:srgbClr val="DADADC">
                  <a:alpha val="100000"/>
                </a:srgbClr>
              </a:clrFrom>
              <a:clrTo>
                <a:srgbClr val="DADADC">
                  <a:alpha val="100000"/>
                  <a:alpha val="0"/>
                </a:srgbClr>
              </a:clrTo>
            </a:clrChange>
          </a:blip>
          <a:srcRect l="1850" t="8067" r="3946" b="5346"/>
          <a:stretch>
            <a:fillRect/>
          </a:stretch>
        </p:blipFill>
        <p:spPr>
          <a:xfrm>
            <a:off x="109855" y="1314450"/>
            <a:ext cx="7988300" cy="47085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29870" y="118237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ym typeface="+mn-ea"/>
              </a:rPr>
              <a:t>Software Aspects :-</a:t>
            </a:r>
            <a:endParaRPr lang="en-US" sz="2800" b="1"/>
          </a:p>
        </p:txBody>
      </p:sp>
      <p:pic>
        <p:nvPicPr>
          <p:cNvPr id="13" name="Picture 12" descr="WhatsApp Image 2025-09-19 at 23.23.07_eb109b1e"/>
          <p:cNvPicPr>
            <a:picLocks noChangeAspect="1"/>
          </p:cNvPicPr>
          <p:nvPr/>
        </p:nvPicPr>
        <p:blipFill>
          <a:blip r:embed="rId3">
            <a:clrChange>
              <a:clrFrom>
                <a:srgbClr val="E7E7E7">
                  <a:alpha val="100000"/>
                </a:srgbClr>
              </a:clrFrom>
              <a:clrTo>
                <a:srgbClr val="E7E7E7">
                  <a:alpha val="100000"/>
                  <a:alpha val="0"/>
                </a:srgbClr>
              </a:clrTo>
            </a:clrChange>
          </a:blip>
          <a:srcRect l="8560" t="7102" r="7498" b="11481"/>
          <a:stretch>
            <a:fillRect/>
          </a:stretch>
        </p:blipFill>
        <p:spPr>
          <a:xfrm>
            <a:off x="7998460" y="1182370"/>
            <a:ext cx="4193540" cy="50355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363075" y="3968750"/>
            <a:ext cx="1464310" cy="35369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9451340" y="3968750"/>
            <a:ext cx="1463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/>
              <a:t>Jupyter Notebbok</a:t>
            </a:r>
            <a:endParaRPr lang="en-US" sz="1200"/>
          </a:p>
        </p:txBody>
      </p:sp>
      <p:sp>
        <p:nvSpPr>
          <p:cNvPr id="17" name="Text Box 16"/>
          <p:cNvSpPr txBox="1"/>
          <p:nvPr/>
        </p:nvSpPr>
        <p:spPr>
          <a:xfrm>
            <a:off x="155575" y="6217920"/>
            <a:ext cx="1186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MH-Weed16: Indian Agricultural Weed Dataset  :- https://data.mendeley.com/datasets/d3n3mgjjbv/1</a:t>
            </a:r>
            <a:endParaRPr lang="en-US" altLang="en-US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241300"/>
            <a:ext cx="192278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Neiaoo</a:t>
            </a:r>
            <a:endParaRPr lang="en-US" alt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229870" y="118237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ym typeface="+mn-ea"/>
              </a:rPr>
              <a:t>Hardware Aspects :-</a:t>
            </a:r>
            <a:endParaRPr lang="en-US" sz="2800" b="1"/>
          </a:p>
        </p:txBody>
      </p:sp>
      <p:sp>
        <p:nvSpPr>
          <p:cNvPr id="17" name="Text Box 16"/>
          <p:cNvSpPr txBox="1"/>
          <p:nvPr/>
        </p:nvSpPr>
        <p:spPr>
          <a:xfrm>
            <a:off x="155575" y="6217920"/>
            <a:ext cx="1186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000" b="1"/>
              <a:t>MH-Weed16: Indian Agricultural Weed Dataset  :- https://data.mendeley.com/datasets/d3n3mgjjbv/1</a:t>
            </a:r>
            <a:endParaRPr lang="en-US" altLang="en-US" sz="2000" b="1"/>
          </a:p>
        </p:txBody>
      </p:sp>
      <p:pic>
        <p:nvPicPr>
          <p:cNvPr id="2" name="Picture 1" descr="WhatsApp Image 2025-09-19 at 20.29.01_231485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85" y="1789430"/>
            <a:ext cx="8128000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69340" y="1179830"/>
            <a:ext cx="9385300" cy="4947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the feasibility of the idea :-</a:t>
            </a:r>
            <a:endParaRPr lang="en-US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Technical Feasible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Economically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Viability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R="0" lvl="2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 :-</a:t>
            </a:r>
            <a:endParaRPr lang="en-US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limitation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variations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Hardware-software integration issues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Farmer adoption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2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Strategies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for overcoming these challenges:-</a:t>
            </a:r>
            <a:endParaRPr kumimoji="0" lang="en-US" sz="24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Use diverse datasets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Image Augmentation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Lightweight Model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1371600" marR="0" lvl="2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AutoNum type="arabicPeriod"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Farmer-Friendly Design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252095"/>
            <a:ext cx="146304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Neiaoo</a:t>
            </a:r>
            <a:endParaRPr lang="en-US" alt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95045" y="1573530"/>
            <a:ext cx="10646410" cy="5284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Potential impact on the target audience :-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   1.Small and marginal farmers gain affordable access to precision farming.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   2.Reduces dependency on manual labor, especially during peak seasons.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   3.Improves accuracy in planning and helps make better decision while planting and wedding.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 :-</a:t>
            </a:r>
            <a:endParaRPr lang="en-US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Benefits :</a:t>
            </a:r>
            <a:endParaRPr lang="en-US" altLang="en-US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It reduces stress and workload of the farmers.   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 Benefits :</a:t>
            </a:r>
            <a:endParaRPr lang="en-US" altLang="en-US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Lowers cost of labor, water, seeds which also leads to productivity and profitability. 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Benefits :</a:t>
            </a:r>
            <a:endParaRPr lang="en-US" altLang="en-US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Minimizes chemical herbicide usage, protecting soil health and biodiversity.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252095"/>
            <a:ext cx="1370330" cy="8089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Neiaoo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97180" y="1116965"/>
            <a:ext cx="11752580" cy="57410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Gebbers, R., &amp; Adamchuk, V. I. (2010). Precision agriculture and food security. Science, 327(5967), 828–831.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Bechar, A., &amp; Vigneault, C. (2016). Agricultural robots for field operations: Concepts and components. Biosystems Engineering, 149, 94–111.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Dos Santos Ferreira, A., et al. (2017). Weed detection in soybean crops using ConvNets. Computers and Electronics in Agriculture, 143, 314–324.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Griepentrog, H. W., et al. (2006). Development of autonomous robots for precision weeding. Precision Agriculture, 7(6), 459–468.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Slaughter, D. C., Giles, D. K., &amp; Downey, D. (2008). Autonomous robotic weed control systems: A review. Computers and Electronics in Agriculture, 61(1), 63–78.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Young, S. L. (2012). True integrated weed management. Weed Technology, 26(4), 829–833.</a:t>
            </a: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sz="2000"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Olsen, A., et al. (2019). DeepWeeds: A multiclass weed species image dataset for deep learning. Scientific Reports, 9, 2058.</a:t>
            </a:r>
            <a:endParaRPr sz="2000"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  <a:defRPr sz="1000"/>
            </a:pPr>
            <a:r>
              <a:rPr sz="2000">
                <a:sym typeface="+mn-ea"/>
              </a:rPr>
              <a:t>Bac, C. W., et al. (2014). Harvesting robots for high-value crops: State-of-the-art review and challenges ahead. Journal of Field Robotics, 31(6), 888–911.</a:t>
            </a:r>
            <a:endParaRPr sz="2000"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  <a:defRPr sz="1000"/>
            </a:pPr>
            <a:r>
              <a:rPr lang="en-US" altLang="en-US" sz="2000">
                <a:sym typeface="+mn-ea"/>
              </a:rPr>
              <a:t>MH-Weed16: Indian Agricultural Weed Dataset  :- https://data.mendeley.com/datasets/d3n3mgjjbv/1</a:t>
            </a:r>
            <a:endParaRPr lang="en-US" altLang="en-US" sz="2000"/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sz="20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sz="2800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  <a:defRPr sz="1000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Neiaoo</a:t>
            </a:r>
            <a:endParaRPr lang="en-US" alt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3598</Words>
  <Application>WPS Presentation</Application>
  <PresentationFormat>Widescreen</PresentationFormat>
  <Paragraphs>119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AMGDT</vt:lpstr>
      <vt:lpstr>TradeGothic</vt:lpstr>
      <vt:lpstr>Arial</vt:lpstr>
      <vt:lpstr>Times New Roman</vt:lpstr>
      <vt:lpstr>Garamond</vt:lpstr>
      <vt:lpstr>Wingdings</vt:lpstr>
      <vt:lpstr>Microsoft YaHei</vt:lpstr>
      <vt:lpstr>Arial Unicode MS</vt:lpstr>
      <vt:lpstr>Office Theme</vt:lpstr>
      <vt:lpstr>SMART INDIA HACKATHON 2025</vt:lpstr>
      <vt:lpstr> Autonomous small precision focused machine for planting crops or weeding</vt:lpstr>
      <vt:lpstr>TECHNICAL APPROACH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Sayantani Chowdhury</cp:lastModifiedBy>
  <cp:revision>155</cp:revision>
  <dcterms:created xsi:type="dcterms:W3CDTF">2013-12-12T18:46:00Z</dcterms:created>
  <dcterms:modified xsi:type="dcterms:W3CDTF">2025-09-20T07:04:45Z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3CC3E5641EFF4C089DB3354CBB846976_13</vt:lpwstr>
  </property>
  <property fmtid="{D5CDD505-2E9C-101B-9397-08002B2CF9AE}" pid="3" name="KSOProductBuildVer">
    <vt:lpwstr>1033-12.2.0.22549</vt:lpwstr>
  </property>
</Properties>
</file>